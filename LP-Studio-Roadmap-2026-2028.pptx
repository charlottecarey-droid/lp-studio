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554480"/>
            <a:ext cx="365760" cy="365760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57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C7E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LP Studio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On-brand pages, microsites &amp; conversational lead capture — generated in seconds, managed across many brands.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E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→ June 2028   ·   24-month plan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41480" y="0"/>
            <a:ext cx="320040" cy="6858000"/>
          </a:xfrm>
          <a:prstGeom prst="rect">
            <a:avLst/>
          </a:prstGeom>
          <a:solidFill>
            <a:srgbClr val="C7E73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split into four lanes — we own the open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3D2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· Squarespace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for non-designers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47288" y="17830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75888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3D2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75888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Designer–dev hybrids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75888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Webflow · Framer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75888" y="3886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control, brand depth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45936" y="17830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74536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3D2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74536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app builders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74536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· v0 · Rocket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74536" y="3886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a full app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44584" y="1783080"/>
            <a:ext cx="2651760" cy="3108960"/>
          </a:xfrm>
          <a:prstGeom prst="rect">
            <a:avLst/>
          </a:prstGeom>
          <a:solidFill>
            <a:srgbClr val="0B3D2E"/>
          </a:solidFill>
          <a:ln w="31750">
            <a:solidFill>
              <a:srgbClr val="C7E738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73184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E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473184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+ multi-tenant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73184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Unbounce · Instapage · LP Studio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73184" y="3886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convert, managed across brands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open ground: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on-brand, on-message pages &amp; microsites generated in seconds — then managed across many clients. No incumbent combines brand fidelity + a real block system + native multi-tenancy.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Studio · Product Roadmap 2026–2028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REALITY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founder, a full-time job — that decides the strategy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3657600"/>
          </a:xfrm>
          <a:prstGeom prst="rect">
            <a:avLst/>
          </a:prstGeom>
          <a:solidFill>
            <a:srgbClr val="FFFFFF"/>
          </a:solidFill>
          <a:ln w="31750">
            <a:solidFill>
              <a:srgbClr val="C7E738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752344"/>
            <a:ext cx="128016" cy="128016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/ product-led growth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282696"/>
            <a:ext cx="128016" cy="128016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2278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— let the AI do the work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813048"/>
            <a:ext cx="128016" cy="128016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7581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 vertical wedge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4343400"/>
            <a:ext cx="128016" cy="128016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2885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compounding acquisition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4873752"/>
            <a:ext cx="128016" cy="128016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8188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Agencies: one customer → many end-users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5394960" cy="3657600"/>
          </a:xfrm>
          <a:prstGeom prst="rect">
            <a:avLst/>
          </a:prstGeom>
          <a:solidFill>
            <a:srgbClr val="ECF1ED"/>
          </a:solidFill>
          <a:ln w="12700">
            <a:solidFill>
              <a:srgbClr val="DDE5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(FOR NOW)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2697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5800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 cycles &amp; RFPs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37960" y="322783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0" y="32278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/ SSO-gated deals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37960" y="375818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0" y="37581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/ done-for-you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37960" y="428853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0" y="42885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with Lovable on app-building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37960" y="481888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58000" y="48188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features that skip the moats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agrees: vertical beats horizontal, 73% of winning solo-SaaS target micro-segments incumbents ignore, and thin AI wrappers die at 25–35% margins.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Studio · Product Roadmap 2026–2028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where you're already warm, then widen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128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E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 narrow vertical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/ DSO + the agencies serving it — you have usage, brand assets, tagged imagery, credibility.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33088" y="30632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E738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187452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14884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2128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E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1772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Templatize 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4747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practice or DSO live in minutes. The repeatable self-serve motion one founder can scale.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27848" y="30632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E738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187452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214884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2128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E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41248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via agencies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34747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verticals + agency tenants. One agency brings dozens of microsites — non-linear growth, no sales team.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are the multiplier — the solo founder's path to scale without headcount.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Studio · Product Roadmap 2026–2028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moats — deepen these, ignore the rest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1691640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842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fidelity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44144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that truly look like the brand — colors, fonts, voice, real imagery via the tagging system. Hardest thing for a wrapper to copy.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783080"/>
            <a:ext cx="109728" cy="1691640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842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Strict-facts / trust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44144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AI can't invent claims about your business.” A real edge for regulated, credibility-sensitive verticals — and what makes the bots safe.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749040"/>
            <a:ext cx="109728" cy="1691640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502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conversational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40740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copilot, lead-capture bot, support bot — one engine, all grounded in approved brand facts. Already started.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74904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3749040"/>
            <a:ext cx="109728" cy="1691640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9502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library + 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440740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tenant's pages, imagery &amp; what-converts data compound into a recommendation advantage a fresh competitor can't match.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Studio · Product Roadmap 2026–2028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7E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241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Become the fastest way for a brand — or an agency managing many brands — to generate on-brand, conversion-ready pages, microsites, and conversational lead capture.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E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a vertical you already own. Expand through agencies.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41480" y="0"/>
            <a:ext cx="320040" cy="6858000"/>
          </a:xfrm>
          <a:prstGeom prst="rect">
            <a:avLst/>
          </a:prstGeom>
          <a:solidFill>
            <a:srgbClr val="C7E73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24 MONTHS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horizons, one big thing per quarter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2103120" cy="13258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574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E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715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2026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21031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Earn Trust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834640" y="25877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product, first paying users, conversational lead capture.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55848"/>
            <a:ext cx="11064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355848"/>
            <a:ext cx="2103120" cy="1325880"/>
          </a:xfrm>
          <a:prstGeom prst="rect">
            <a:avLst/>
          </a:prstGeom>
          <a:solidFill>
            <a:srgbClr val="125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387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E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" y="41970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2027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834640" y="358444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&amp; Monetize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834640" y="40690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copilot, agency self-serve, conversion intelligence — raise ARPU.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837176"/>
            <a:ext cx="11064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837176"/>
            <a:ext cx="2103120" cy="1325880"/>
          </a:xfrm>
          <a:prstGeom prst="rect">
            <a:avLst/>
          </a:prstGeom>
          <a:solidFill>
            <a:srgbClr val="1C6B4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020056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E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5800" y="56784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 – Q2 2028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34640" y="5065776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Leverage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2834640" y="555040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#2, marketplace, support bot, platform optionality.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Studio · Product Roadmap 2026–2028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1 · LAUNCH &amp; EARN TRUST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Q3–Q4 2026 — ship it, make it reliable, get the first dollars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5394960" cy="77724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01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E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Launch-ready &amp; first paying users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2971800"/>
            <a:ext cx="118872" cy="118872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880360"/>
            <a:ext cx="4608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launch P0s; ship the Product Hunt launch with live-build as the hero demo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" y="3685032"/>
            <a:ext cx="118872" cy="118872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704" y="3593592"/>
            <a:ext cx="4608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onboarding: brand import → first page in &lt;5 min, guided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4398264"/>
            <a:ext cx="118872" cy="118872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704" y="4306824"/>
            <a:ext cx="4608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v1: free + base plan + AI usage as the upgrade trigger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956048"/>
            <a:ext cx="4846320" cy="548640"/>
          </a:xfrm>
          <a:prstGeom prst="rect">
            <a:avLst/>
          </a:prstGeom>
          <a:solidFill>
            <a:srgbClr val="EEF4E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992624"/>
            <a:ext cx="4617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Win: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25–50 paying tenants; activation (import→published) &gt; 40%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53949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783080"/>
            <a:ext cx="5394960" cy="77724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901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E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21488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lead capture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10528" y="2971800"/>
            <a:ext cx="118872" cy="118872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22" name="Text 20"/>
          <p:cNvSpPr/>
          <p:nvPr/>
        </p:nvSpPr>
        <p:spPr>
          <a:xfrm>
            <a:off x="6729984" y="2880360"/>
            <a:ext cx="4608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Lead-capture bot — grounded in approved facts, books meetings via Chili Piper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10528" y="3685032"/>
            <a:ext cx="118872" cy="118872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24" name="Text 22"/>
          <p:cNvSpPr/>
          <p:nvPr/>
        </p:nvSpPr>
        <p:spPr>
          <a:xfrm>
            <a:off x="6729984" y="3593592"/>
            <a:ext cx="4608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Strict-facts “can't make things up” trust angle as the headline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10528" y="4398264"/>
            <a:ext cx="118872" cy="118872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26" name="Text 24"/>
          <p:cNvSpPr/>
          <p:nvPr/>
        </p:nvSpPr>
        <p:spPr>
          <a:xfrm>
            <a:off x="6729984" y="4306824"/>
            <a:ext cx="4608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Visitor-question analytics surfaced to tenants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4956048"/>
            <a:ext cx="4846320" cy="548640"/>
          </a:xfrm>
          <a:prstGeom prst="rect">
            <a:avLst/>
          </a:prstGeom>
          <a:solidFill>
            <a:srgbClr val="EEF4EF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992624"/>
            <a:ext cx="4617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Win: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lift in captured leads per published page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Studio · Product Roadmap 2026–2028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2 · DIFFERENTIATE &amp; MONETIZE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Q1–Q2 2027 — turn a generator into a system you'd miss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5394960" cy="777240"/>
          </a:xfrm>
          <a:prstGeom prst="rect">
            <a:avLst/>
          </a:prstGeom>
          <a:solidFill>
            <a:srgbClr val="1253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01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E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Copilot + agency self-serve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2971800"/>
            <a:ext cx="118872" cy="118872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880360"/>
            <a:ext cx="4608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Builder Copilot into a daily-use assistant (action quality)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" y="3685032"/>
            <a:ext cx="118872" cy="118872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704" y="3593592"/>
            <a:ext cx="4608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agency / multi-tenant: agencies onboard clients without you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4398264"/>
            <a:ext cx="118872" cy="118872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704" y="4306824"/>
            <a:ext cx="4608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expansion as the growth multiplier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956048"/>
            <a:ext cx="4846320" cy="548640"/>
          </a:xfrm>
          <a:prstGeom prst="rect">
            <a:avLst/>
          </a:prstGeom>
          <a:solidFill>
            <a:srgbClr val="EEF4E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992624"/>
            <a:ext cx="4617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Win: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agencies managing 5+ client tenants each; NRR rising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53949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783080"/>
            <a:ext cx="5394960" cy="777240"/>
          </a:xfrm>
          <a:prstGeom prst="rect">
            <a:avLst/>
          </a:prstGeom>
          <a:solidFill>
            <a:srgbClr val="125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901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E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21488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intelligence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10528" y="2971800"/>
            <a:ext cx="118872" cy="118872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22" name="Text 20"/>
          <p:cNvSpPr/>
          <p:nvPr/>
        </p:nvSpPr>
        <p:spPr>
          <a:xfrm>
            <a:off x="6729984" y="2880360"/>
            <a:ext cx="4608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made trivial + AI “what to change” suggestions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10528" y="3685032"/>
            <a:ext cx="118872" cy="118872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24" name="Text 22"/>
          <p:cNvSpPr/>
          <p:nvPr/>
        </p:nvSpPr>
        <p:spPr>
          <a:xfrm>
            <a:off x="6729984" y="3593592"/>
            <a:ext cx="4608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“Review my page before publish” copilot mode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10528" y="4398264"/>
            <a:ext cx="118872" cy="118872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26" name="Text 24"/>
          <p:cNvSpPr/>
          <p:nvPr/>
        </p:nvSpPr>
        <p:spPr>
          <a:xfrm>
            <a:off x="6729984" y="4306824"/>
            <a:ext cx="4608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from visitor-question + conversion data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4956048"/>
            <a:ext cx="4846320" cy="548640"/>
          </a:xfrm>
          <a:prstGeom prst="rect">
            <a:avLst/>
          </a:prstGeom>
          <a:solidFill>
            <a:srgbClr val="EEF4EF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992624"/>
            <a:ext cx="4617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Win: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cite conversion lift as the reason they stay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Studio · Product Roadmap 2026–2028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 · SCALE THE LEVERAGE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2027 – Q2 2028 — make growth &amp; support hands-off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3566160" cy="109728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#2 + template marketplace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wedge for the next 1–2 verticals; let users/agencies publish &amp; sell templates so supply scales without you.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828800"/>
            <a:ext cx="3566160" cy="109728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245059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bot + ops automation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3375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support bot deflects your tickets; automate billing edge cases, onboarding nudges, churn-risk prompts. Buy back your time.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828800"/>
            <a:ext cx="3566160" cy="109728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245059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optionality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33375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Embeddable chat widget beyond LP Studio; deeper CRM/marketing integrations. Decide: profitable indie, or raise from strength.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 automation so the product carries more of the load over time — the whole point of this horizon.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Studio · Product Roadmap 2026–2028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NO IS THE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anti-roadmap — what NOT to build while solo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02536"/>
            <a:ext cx="310896" cy="310896"/>
          </a:xfrm>
          <a:prstGeom prst="ellipse">
            <a:avLst/>
          </a:prstGeom>
          <a:solidFill>
            <a:srgbClr val="E7ECE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84248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019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 motion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9019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contracts &amp; RFPs eat a solo founder's calendar alive.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42616"/>
            <a:ext cx="11064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62072"/>
            <a:ext cx="310896" cy="310896"/>
          </a:xfrm>
          <a:prstGeom prst="ellipse">
            <a:avLst/>
          </a:prstGeom>
          <a:solidFill>
            <a:srgbClr val="E7ECE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43784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614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/ HIPAA / SSO tier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76148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when a deal pulls it — and price for it. Not before.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502152"/>
            <a:ext cx="11064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721608"/>
            <a:ext cx="310896" cy="310896"/>
          </a:xfrm>
          <a:prstGeom prst="ellipse">
            <a:avLst/>
          </a:prstGeom>
          <a:solidFill>
            <a:srgbClr val="E7ECE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03320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6210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generative app builder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362102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fight Lovable / v0 on their turf; play your own game.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61688"/>
            <a:ext cx="11064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81144"/>
            <a:ext cx="310896" cy="310896"/>
          </a:xfrm>
          <a:prstGeom prst="ellipse">
            <a:avLst/>
          </a:prstGeom>
          <a:solidFill>
            <a:srgbClr val="E7ECE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62856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480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/ done-for-you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4480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you into an agency, not a product company.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221224"/>
            <a:ext cx="11064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440680"/>
            <a:ext cx="310896" cy="310896"/>
          </a:xfrm>
          <a:prstGeom prst="ellipse">
            <a:avLst/>
          </a:prstGeom>
          <a:solidFill>
            <a:srgbClr val="E7ECE8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422392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160" y="534009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 horizontal features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0" y="534009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doesn't deepen the four moats, it's a distraction.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Studio · Product Roadmap 2026–2028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gates &amp; the risks to manage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3703320"/>
          </a:xfrm>
          <a:prstGeom prst="rect">
            <a:avLst/>
          </a:prstGeom>
          <a:solidFill>
            <a:srgbClr val="0B3D2E"/>
          </a:solidFill>
          <a:ln/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7E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a horizon only when the prior one's win condition is hit: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383280"/>
            <a:ext cx="128016" cy="128016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2918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activation? Fix it before the copilot.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041648"/>
            <a:ext cx="128016" cy="128016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95020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bot doesn't lift leads? Fix it before agency self-serve.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700016"/>
            <a:ext cx="128016" cy="128016"/>
          </a:xfrm>
          <a:prstGeom prst="ellipse">
            <a:avLst/>
          </a:prstGeom>
          <a:solidFill>
            <a:srgbClr val="C7E73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0857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founder can't build ahead of evidence.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5394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E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AI-wrapper margins (25–35%)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8072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on non-wrapper moats; price AI as value add-on.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735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risk (Lovable/Framer)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depth + agency ties + conversion data they can't copy.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403250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bandwidth / burnout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43251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per quarter; front-load automation.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479145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AI claim on a live page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508406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Strict-facts is both the fix and the marketing.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Studio · Product Roadmap 2026–2028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365760" cy="365760"/>
          </a:xfrm>
          <a:prstGeom prst="rect">
            <a:avLst/>
          </a:prstGeom>
          <a:solidFill>
            <a:srgbClr val="C7E73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7E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90 DAYS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the launch. Nail activation. Make the page talk back.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after compounds from a reliable product, the first paying users, and a lead bot that proves its worth.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E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Studio  ·  Roadmap 2026–2028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41480" y="0"/>
            <a:ext cx="320040" cy="6858000"/>
          </a:xfrm>
          <a:prstGeom prst="rect">
            <a:avLst/>
          </a:prstGeom>
          <a:solidFill>
            <a:srgbClr val="C7E73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LP Studio Product Roadmap 2026–2028</dc:title>
  <dc:subject>PptxGenJS Presentation</dc:subject>
  <dc:creator>LP Studio</dc:creator>
  <cp:lastModifiedBy>LP Studio</cp:lastModifiedBy>
  <cp:revision>1</cp:revision>
  <dcterms:created xsi:type="dcterms:W3CDTF">2026-06-13T14:11:07Z</dcterms:created>
  <dcterms:modified xsi:type="dcterms:W3CDTF">2026-06-13T14:11:07Z</dcterms:modified>
</cp:coreProperties>
</file>